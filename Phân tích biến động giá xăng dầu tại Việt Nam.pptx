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Arimo" panose="020B0604020202020204" charset="0"/>
      <p:regular r:id="rId14"/>
      <p:bold r:id="rId15"/>
      <p:italic r:id="rId16"/>
      <p:boldItalic r:id="rId17"/>
    </p:embeddedFont>
    <p:embeddedFont>
      <p:font typeface="Arimo Medium" panose="020B0604020202020204" charset="0"/>
      <p:regular r:id="rId18"/>
      <p:bold r:id="rId19"/>
      <p:italic r:id="rId20"/>
      <p:boldItalic r:id="rId21"/>
    </p:embeddedFont>
    <p:embeddedFont>
      <p:font typeface="Arimo SemiBold" panose="020B0604020202020204" charset="0"/>
      <p:regular r:id="rId22"/>
      <p:bold r:id="rId23"/>
      <p:italic r:id="rId24"/>
      <p:boldItalic r:id="rId25"/>
    </p:embeddedFont>
    <p:embeddedFont>
      <p:font typeface="DM Sans" pitchFamily="2" charset="0"/>
      <p:regular r:id="rId26"/>
      <p:bold r:id="rId27"/>
    </p:embeddedFont>
    <p:embeddedFont>
      <p:font typeface="Merriweather" panose="00000500000000000000" pitchFamily="2" charset="0"/>
      <p:regular r:id="rId28"/>
      <p:bold r:id="rId29"/>
    </p:embeddedFont>
    <p:embeddedFont>
      <p:font typeface="Poppins" panose="00000500000000000000" pitchFamily="2" charset="0"/>
      <p:regular r:id="rId30"/>
      <p:bold r:id="rId31"/>
      <p:italic r:id="rId32"/>
      <p:boldItalic r:id="rId33"/>
    </p:embeddedFont>
    <p:embeddedFont>
      <p:font typeface="Poppins SemiBold" panose="000007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59EE7A3-CF88-420C-AAC5-505AE636D135}">
  <a:tblStyle styleId="{159EE7A3-CF88-420C-AAC5-505AE636D13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57" autoAdjust="0"/>
  </p:normalViewPr>
  <p:slideViewPr>
    <p:cSldViewPr snapToGrid="0">
      <p:cViewPr varScale="1">
        <p:scale>
          <a:sx n="76" d="100"/>
          <a:sy n="76" d="100"/>
        </p:scale>
        <p:origin x="917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viewProps" Target="viewProps.xml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font" Target="fonts/font2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font" Target="fonts/font23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youtu.be/6r4Gh6IKHes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568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8175" y="4957762"/>
            <a:ext cx="3295650" cy="132873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95437" y="1083989"/>
            <a:ext cx="9001125" cy="1403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 dirty="0">
                <a:solidFill>
                  <a:srgbClr val="1E3A8A"/>
                </a:solidFill>
                <a:latin typeface="Aptos" panose="020B0004020202020204" pitchFamily="34" charset="0"/>
                <a:ea typeface="Poppins"/>
                <a:cs typeface="Poppins"/>
                <a:sym typeface="Poppins"/>
              </a:rPr>
              <a:t>PHÂN TÍCH BIẾN ĐỘNG GIÁ XĂNG DẦU TẠI VIỆT NAM GIAI ĐOẠN 2020–2025</a:t>
            </a:r>
            <a:endParaRPr sz="3800" dirty="0">
              <a:latin typeface="Aptos" panose="020B0004020202020204" pitchFamily="34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190561" y="2789288"/>
            <a:ext cx="3295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Môn </a:t>
            </a:r>
            <a:r>
              <a:rPr lang="en-US" sz="1600" b="1" i="0" u="none" strike="noStrike" cap="none" dirty="0" err="1">
                <a:solidFill>
                  <a:schemeClr val="tx1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học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: Khoa </a:t>
            </a:r>
            <a:r>
              <a:rPr lang="en-US" sz="1600" b="1" i="0" u="none" strike="noStrike" cap="none" dirty="0" err="1">
                <a:solidFill>
                  <a:schemeClr val="tx1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học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 </a:t>
            </a:r>
            <a:r>
              <a:rPr lang="en-US" sz="1600" b="1" i="0" u="none" strike="noStrike" cap="none" dirty="0" err="1">
                <a:solidFill>
                  <a:schemeClr val="tx1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dữ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 </a:t>
            </a:r>
            <a:r>
              <a:rPr lang="en-US" sz="1600" b="1" i="0" u="none" strike="noStrike" cap="none" dirty="0" err="1">
                <a:solidFill>
                  <a:schemeClr val="tx1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liệu</a:t>
            </a:r>
            <a:endParaRPr sz="1600" b="1" dirty="0">
              <a:solidFill>
                <a:schemeClr val="tx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485542" y="3721375"/>
            <a:ext cx="5111020" cy="290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Sinh </a:t>
            </a:r>
            <a:r>
              <a:rPr lang="en-US" sz="1600" b="1" i="0" u="none" strike="noStrike" cap="none" dirty="0" err="1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viên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00" b="1" i="0" u="none" strike="noStrike" cap="none" err="1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thực</a:t>
            </a:r>
            <a:r>
              <a:rPr lang="en-US" sz="1600" b="1" i="0" u="none" strike="noStrike" cap="none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 hiện</a:t>
            </a:r>
            <a:r>
              <a:rPr lang="en-US" sz="1600" i="0" u="none" strike="noStrike" cap="none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vi-VN" sz="1600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Nguyễn </a:t>
            </a:r>
            <a:r>
              <a:rPr lang="vi-VN" sz="160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Thị Linh</a:t>
            </a:r>
          </a:p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                        : Triệu Trà My</a:t>
            </a:r>
          </a:p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>
                <a:solidFill>
                  <a:schemeClr val="tx1"/>
                </a:solidFill>
              </a:rPr>
              <a:t>                                        </a:t>
            </a:r>
            <a:r>
              <a:rPr lang="vi-VN" sz="1600" dirty="0">
                <a:solidFill>
                  <a:schemeClr val="tx1"/>
                </a:solidFill>
              </a:rPr>
              <a:t>: </a:t>
            </a:r>
            <a:r>
              <a:rPr lang="vi-VN" sz="1600" dirty="0">
                <a:solidFill>
                  <a:schemeClr val="tx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Hoàng Thị Xuân Trang</a:t>
            </a:r>
          </a:p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dirty="0">
                <a:solidFill>
                  <a:schemeClr val="tx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                                : Ngô Thị Thùy Linh</a:t>
            </a:r>
          </a:p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>
                <a:solidFill>
                  <a:schemeClr val="tx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                                         </a:t>
            </a:r>
            <a:r>
              <a:rPr lang="en-US" sz="1600">
                <a:solidFill>
                  <a:schemeClr val="tx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  </a:t>
            </a:r>
            <a:r>
              <a:rPr lang="vi-VN" sz="1600">
                <a:solidFill>
                  <a:schemeClr val="tx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: </a:t>
            </a:r>
            <a:r>
              <a:rPr lang="vi-VN" sz="1600" dirty="0">
                <a:solidFill>
                  <a:schemeClr val="tx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Nguyễn Thị Xuân Phương</a:t>
            </a:r>
          </a:p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dirty="0">
                <a:solidFill>
                  <a:schemeClr val="tx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                         : Nông Hồ Nhật</a:t>
            </a:r>
          </a:p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dirty="0">
                <a:solidFill>
                  <a:schemeClr val="tx1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                                : Nguyễn Văn Hoan</a:t>
            </a:r>
          </a:p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727646" y="3742930"/>
            <a:ext cx="38415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Giảng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00" b="1" i="0" u="none" strike="noStrike" cap="none" dirty="0" err="1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viên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00" b="1" i="0" u="none" strike="noStrike" cap="none" dirty="0" err="1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hướng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600" b="1" i="0" u="none" strike="noStrike" cap="none" dirty="0" err="1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dẫn</a:t>
            </a:r>
            <a:r>
              <a:rPr lang="en-US" sz="1600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vi-VN" sz="1600" i="0" u="none" strike="noStrike" cap="none" dirty="0">
                <a:solidFill>
                  <a:schemeClr val="tx1"/>
                </a:solidFill>
                <a:latin typeface="Arimo"/>
                <a:ea typeface="Arimo"/>
                <a:cs typeface="Arimo"/>
                <a:sym typeface="Arimo"/>
              </a:rPr>
              <a:t>Nguyễn Văn Huy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1D2612EE-E671-A595-B430-3AA7262F9C9A}"/>
              </a:ext>
            </a:extLst>
          </p:cNvPr>
          <p:cNvSpPr txBox="1"/>
          <p:nvPr/>
        </p:nvSpPr>
        <p:spPr>
          <a:xfrm>
            <a:off x="4049884" y="3221544"/>
            <a:ext cx="3295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tx1"/>
                </a:solidFill>
              </a:rPr>
              <a:t>Nhóm: 9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3" name="Google Shape;88;p13">
            <a:extLst>
              <a:ext uri="{FF2B5EF4-FFF2-40B4-BE49-F238E27FC236}">
                <a16:creationId xmlns:a16="http://schemas.microsoft.com/office/drawing/2014/main" id="{266B58EF-FFE3-B873-ACB6-FD3277EB5B50}"/>
              </a:ext>
            </a:extLst>
          </p:cNvPr>
          <p:cNvSpPr txBox="1"/>
          <p:nvPr/>
        </p:nvSpPr>
        <p:spPr>
          <a:xfrm>
            <a:off x="87399" y="4281417"/>
            <a:ext cx="44645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9964"/>
              </a:lnSpc>
            </a:pPr>
            <a:r>
              <a:rPr lang="en-US" sz="1600" b="0" i="0" u="none" strike="noStrike" cap="none">
                <a:solidFill>
                  <a:schemeClr val="tx1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Link youtube </a:t>
            </a:r>
            <a:r>
              <a:rPr lang="en-US" sz="1425" b="0" i="0" u="none" strike="noStrike" cap="none">
                <a:solidFill>
                  <a:schemeClr val="tx1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: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7B2D84-961E-38CD-0575-D057E508E8ED}"/>
              </a:ext>
            </a:extLst>
          </p:cNvPr>
          <p:cNvSpPr txBox="1"/>
          <p:nvPr/>
        </p:nvSpPr>
        <p:spPr>
          <a:xfrm>
            <a:off x="2916534" y="4322910"/>
            <a:ext cx="60943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hlinkClick r:id="rId5"/>
              </a:rPr>
              <a:t>https://youtu.be/6r4Gh6IKHes</a:t>
            </a:r>
            <a:endParaRPr lang="en-US" sz="1600"/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5;p14" descr="image.png">
            <a:extLst>
              <a:ext uri="{FF2B5EF4-FFF2-40B4-BE49-F238E27FC236}">
                <a16:creationId xmlns:a16="http://schemas.microsoft.com/office/drawing/2014/main" id="{76A33E5B-3609-735E-786A-5B9A6082C0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6;p14" descr="image.png">
            <a:extLst>
              <a:ext uri="{FF2B5EF4-FFF2-40B4-BE49-F238E27FC236}">
                <a16:creationId xmlns:a16="http://schemas.microsoft.com/office/drawing/2014/main" id="{8303D8BD-1301-027B-5A69-7EBCA2AAB17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37507"/>
            <a:ext cx="3492549" cy="2859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7;p14" descr="image.png">
            <a:extLst>
              <a:ext uri="{FF2B5EF4-FFF2-40B4-BE49-F238E27FC236}">
                <a16:creationId xmlns:a16="http://schemas.microsoft.com/office/drawing/2014/main" id="{08C67701-97DB-1B5A-8271-56DA346F313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37507"/>
            <a:ext cx="3492549" cy="2859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8;p14" descr="image.png">
            <a:extLst>
              <a:ext uri="{FF2B5EF4-FFF2-40B4-BE49-F238E27FC236}">
                <a16:creationId xmlns:a16="http://schemas.microsoft.com/office/drawing/2014/main" id="{AA76E71E-A0C3-0E36-9465-D0500207E20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37507"/>
            <a:ext cx="3492549" cy="285928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9;p14">
            <a:extLst>
              <a:ext uri="{FF2B5EF4-FFF2-40B4-BE49-F238E27FC236}">
                <a16:creationId xmlns:a16="http://schemas.microsoft.com/office/drawing/2014/main" id="{E79951DA-92FA-9122-0FF7-6D29E0850959}"/>
              </a:ext>
            </a:extLst>
          </p:cNvPr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1. Giới thiệu đề tài</a:t>
            </a:r>
            <a:endParaRPr/>
          </a:p>
        </p:txBody>
      </p:sp>
      <p:sp>
        <p:nvSpPr>
          <p:cNvPr id="7" name="Google Shape;100;p14">
            <a:extLst>
              <a:ext uri="{FF2B5EF4-FFF2-40B4-BE49-F238E27FC236}">
                <a16:creationId xmlns:a16="http://schemas.microsoft.com/office/drawing/2014/main" id="{8A5212CD-E3D7-DC67-2A00-C91CB15353FC}"/>
              </a:ext>
            </a:extLst>
          </p:cNvPr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02;p14">
            <a:extLst>
              <a:ext uri="{FF2B5EF4-FFF2-40B4-BE49-F238E27FC236}">
                <a16:creationId xmlns:a16="http://schemas.microsoft.com/office/drawing/2014/main" id="{44FA2028-2B0F-FA1B-47AA-FDA49F324BBC}"/>
              </a:ext>
            </a:extLst>
          </p:cNvPr>
          <p:cNvSpPr txBox="1"/>
          <p:nvPr/>
        </p:nvSpPr>
        <p:spPr>
          <a:xfrm>
            <a:off x="914400" y="3418582"/>
            <a:ext cx="294708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Đề tài làm gì?</a:t>
            </a:r>
            <a:endParaRPr/>
          </a:p>
        </p:txBody>
      </p:sp>
      <p:sp>
        <p:nvSpPr>
          <p:cNvPr id="10" name="Google Shape;103;p14">
            <a:extLst>
              <a:ext uri="{FF2B5EF4-FFF2-40B4-BE49-F238E27FC236}">
                <a16:creationId xmlns:a16="http://schemas.microsoft.com/office/drawing/2014/main" id="{3AC20A59-ABBE-9267-3D85-0F24195FC5CE}"/>
              </a:ext>
            </a:extLst>
          </p:cNvPr>
          <p:cNvSpPr txBox="1"/>
          <p:nvPr/>
        </p:nvSpPr>
        <p:spPr>
          <a:xfrm>
            <a:off x="914400" y="3856732"/>
            <a:ext cx="28067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Phân tích biến động giá xăng RON95, tìm xu hướng và các mốc giá cực trị (Max/Min) theo từng năm.</a:t>
            </a:r>
            <a:endParaRPr/>
          </a:p>
        </p:txBody>
      </p:sp>
      <p:sp>
        <p:nvSpPr>
          <p:cNvPr id="11" name="Google Shape;104;p14">
            <a:extLst>
              <a:ext uri="{FF2B5EF4-FFF2-40B4-BE49-F238E27FC236}">
                <a16:creationId xmlns:a16="http://schemas.microsoft.com/office/drawing/2014/main" id="{BCBA2B67-4254-6079-3C65-00F7A49B5E8B}"/>
              </a:ext>
            </a:extLst>
          </p:cNvPr>
          <p:cNvSpPr txBox="1"/>
          <p:nvPr/>
        </p:nvSpPr>
        <p:spPr>
          <a:xfrm>
            <a:off x="4692699" y="3418582"/>
            <a:ext cx="294708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Đề tài để làm gì?</a:t>
            </a:r>
            <a:endParaRPr/>
          </a:p>
        </p:txBody>
      </p:sp>
      <p:sp>
        <p:nvSpPr>
          <p:cNvPr id="12" name="Google Shape;105;p14">
            <a:extLst>
              <a:ext uri="{FF2B5EF4-FFF2-40B4-BE49-F238E27FC236}">
                <a16:creationId xmlns:a16="http://schemas.microsoft.com/office/drawing/2014/main" id="{53AE414C-3A01-0331-ACAE-708054DEE475}"/>
              </a:ext>
            </a:extLst>
          </p:cNvPr>
          <p:cNvSpPr txBox="1"/>
          <p:nvPr/>
        </p:nvSpPr>
        <p:spPr>
          <a:xfrm>
            <a:off x="4692699" y="3856732"/>
            <a:ext cx="28067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Hiểu rõ xu hướng thị trường, đánh giá tác động của các giai đoạn biến động mạnh đến thực tế đời sống.</a:t>
            </a:r>
            <a:endParaRPr/>
          </a:p>
        </p:txBody>
      </p:sp>
      <p:sp>
        <p:nvSpPr>
          <p:cNvPr id="13" name="Google Shape;106;p14">
            <a:extLst>
              <a:ext uri="{FF2B5EF4-FFF2-40B4-BE49-F238E27FC236}">
                <a16:creationId xmlns:a16="http://schemas.microsoft.com/office/drawing/2014/main" id="{10E4CEDF-F9C2-ED1F-D437-210D06F9615F}"/>
              </a:ext>
            </a:extLst>
          </p:cNvPr>
          <p:cNvSpPr txBox="1"/>
          <p:nvPr/>
        </p:nvSpPr>
        <p:spPr>
          <a:xfrm>
            <a:off x="8470999" y="3418582"/>
            <a:ext cx="294708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Quy trình thực hiện</a:t>
            </a:r>
            <a:endParaRPr/>
          </a:p>
        </p:txBody>
      </p:sp>
      <p:sp>
        <p:nvSpPr>
          <p:cNvPr id="14" name="Google Shape;107;p14">
            <a:extLst>
              <a:ext uri="{FF2B5EF4-FFF2-40B4-BE49-F238E27FC236}">
                <a16:creationId xmlns:a16="http://schemas.microsoft.com/office/drawing/2014/main" id="{1E9B2856-CD6A-460D-9BC4-0E6BAE2B1ADC}"/>
              </a:ext>
            </a:extLst>
          </p:cNvPr>
          <p:cNvSpPr txBox="1"/>
          <p:nvPr/>
        </p:nvSpPr>
        <p:spPr>
          <a:xfrm>
            <a:off x="8470999" y="3856732"/>
            <a:ext cx="28067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Từ thu thập, làm sạch dữ liệu đến trực quan hóa và đưa ra các đề xuất giải pháp ổn định giá.</a:t>
            </a:r>
            <a:endParaRPr/>
          </a:p>
        </p:txBody>
      </p:sp>
      <p:pic>
        <p:nvPicPr>
          <p:cNvPr id="15" name="Google Shape;108;p14" descr="image.png">
            <a:extLst>
              <a:ext uri="{FF2B5EF4-FFF2-40B4-BE49-F238E27FC236}">
                <a16:creationId xmlns:a16="http://schemas.microsoft.com/office/drawing/2014/main" id="{49B1AA99-51F3-A470-7DD5-CBA72AD80C6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82803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09;p14" descr="image.png">
            <a:extLst>
              <a:ext uri="{FF2B5EF4-FFF2-40B4-BE49-F238E27FC236}">
                <a16:creationId xmlns:a16="http://schemas.microsoft.com/office/drawing/2014/main" id="{E9FA272A-23C8-1F3C-3833-3CB07F6B511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82803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10;p14" descr="image.png">
            <a:extLst>
              <a:ext uri="{FF2B5EF4-FFF2-40B4-BE49-F238E27FC236}">
                <a16:creationId xmlns:a16="http://schemas.microsoft.com/office/drawing/2014/main" id="{ABE912E7-0C8F-90BA-55B2-8087E06FE52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0999" y="2828032"/>
            <a:ext cx="4286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0750" y="1593056"/>
            <a:ext cx="20955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47887" y="2364581"/>
            <a:ext cx="21812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14550" y="3136106"/>
            <a:ext cx="22479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3907631"/>
            <a:ext cx="22860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90750" y="4679156"/>
            <a:ext cx="20955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86500" y="4683918"/>
            <a:ext cx="53340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167062" y="2059781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167062" y="2831306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167062" y="3602831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167062" y="4374356"/>
            <a:ext cx="142875" cy="190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p15"/>
          <p:cNvGraphicFramePr/>
          <p:nvPr/>
        </p:nvGraphicFramePr>
        <p:xfrm>
          <a:off x="6286500" y="1593056"/>
          <a:ext cx="5324475" cy="2852750"/>
        </p:xfrm>
        <a:graphic>
          <a:graphicData uri="http://schemas.openxmlformats.org/drawingml/2006/table">
            <a:tbl>
              <a:tblPr firstRow="1" bandRow="1">
                <a:noFill/>
                <a:tableStyleId>{159EE7A3-CF88-420C-AAC5-505AE636D135}</a:tableStyleId>
              </a:tblPr>
              <a:tblGrid>
                <a:gridCol w="185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1E3A8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Công cụ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1E3A8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Vai trò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PySpark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Xử lý dữ liệu lớn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Pandas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Thao tác bảng dữ liệu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NumPy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Tính toán thống kê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Matplotlib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Vẽ biểu đồ phân tích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3" name="Google Shape;133;p15"/>
          <p:cNvSpPr txBox="1"/>
          <p:nvPr/>
        </p:nvSpPr>
        <p:spPr>
          <a:xfrm>
            <a:off x="6486525" y="4883943"/>
            <a:ext cx="518064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Tại sao làm như vậy?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486525" y="5369718"/>
            <a:ext cx="4933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Giúp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dữ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liệu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sạch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hơn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trực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quan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hơn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và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dễ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dàng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rút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ra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các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kết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luận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phân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tích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chính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xác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dirty="0"/>
          </a:p>
        </p:txBody>
      </p:sp>
      <p:sp>
        <p:nvSpPr>
          <p:cNvPr id="135" name="Google Shape;135;p15"/>
          <p:cNvSpPr/>
          <p:nvPr/>
        </p:nvSpPr>
        <p:spPr>
          <a:xfrm>
            <a:off x="6291262" y="2150268"/>
            <a:ext cx="185633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8147595" y="2150268"/>
            <a:ext cx="3468141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6291262" y="2731293"/>
            <a:ext cx="18563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8147595" y="2731293"/>
            <a:ext cx="34681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6291262" y="3298031"/>
            <a:ext cx="18563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8147595" y="3298031"/>
            <a:ext cx="34681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6291262" y="3864768"/>
            <a:ext cx="18563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8147595" y="3864768"/>
            <a:ext cx="34681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6291262" y="4431506"/>
            <a:ext cx="18563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8147595" y="4431506"/>
            <a:ext cx="34681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17;p15">
            <a:extLst>
              <a:ext uri="{FF2B5EF4-FFF2-40B4-BE49-F238E27FC236}">
                <a16:creationId xmlns:a16="http://schemas.microsoft.com/office/drawing/2014/main" id="{E10DE0AE-C82E-AD6C-3388-D0C1BCAFCA42}"/>
              </a:ext>
            </a:extLst>
          </p:cNvPr>
          <p:cNvSpPr/>
          <p:nvPr/>
        </p:nvSpPr>
        <p:spPr>
          <a:xfrm>
            <a:off x="242888" y="694745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8D504C-7F52-43AB-57BB-5B8342A1BA80}"/>
              </a:ext>
            </a:extLst>
          </p:cNvPr>
          <p:cNvSpPr txBox="1"/>
          <p:nvPr/>
        </p:nvSpPr>
        <p:spPr>
          <a:xfrm>
            <a:off x="390525" y="694745"/>
            <a:ext cx="60960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Cách thực hiện đề tài</a:t>
            </a:r>
            <a:endParaRPr lang="en-US" sz="3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858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50292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Các câu hỏi nghiên cứu</a:t>
            </a:r>
            <a:endParaRPr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8B0785-B4C8-9759-8EDF-E101FC29B2C8}"/>
              </a:ext>
            </a:extLst>
          </p:cNvPr>
          <p:cNvSpPr/>
          <p:nvPr/>
        </p:nvSpPr>
        <p:spPr>
          <a:xfrm>
            <a:off x="693419" y="1489799"/>
            <a:ext cx="4220225" cy="6520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49964"/>
              </a:lnSpc>
            </a:pPr>
            <a:r>
              <a:rPr lang="en-US" sz="145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1. Giá RON95 biến động thế nào 2020-2025?</a:t>
            </a:r>
            <a:endParaRPr lang="en-US" sz="145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5E3BFF-DD68-5499-0520-B0C2D05AE517}"/>
              </a:ext>
            </a:extLst>
          </p:cNvPr>
          <p:cNvSpPr/>
          <p:nvPr/>
        </p:nvSpPr>
        <p:spPr>
          <a:xfrm>
            <a:off x="693417" y="2956403"/>
            <a:ext cx="4220225" cy="608081"/>
          </a:xfrm>
          <a:prstGeom prst="roundRect">
            <a:avLst>
              <a:gd name="adj" fmla="val 50000"/>
            </a:avLst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solidFill>
                <a:schemeClr val="bg1"/>
              </a:solidFill>
              <a:latin typeface="Arimo"/>
              <a:ea typeface="Arimo"/>
              <a:cs typeface="Arimo"/>
              <a:sym typeface="Arimo"/>
            </a:endParaRPr>
          </a:p>
          <a:p>
            <a:r>
              <a:rPr lang="en-US" sz="145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3. Thời điểm giá đạt mức cao nhất?</a:t>
            </a:r>
            <a:endParaRPr lang="en-US" sz="1450">
              <a:solidFill>
                <a:schemeClr val="bg1"/>
              </a:solidFill>
            </a:endParaRPr>
          </a:p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49FFCD0-FADB-8CC1-7EAA-CDCEE8A76CDF}"/>
              </a:ext>
            </a:extLst>
          </p:cNvPr>
          <p:cNvSpPr/>
          <p:nvPr/>
        </p:nvSpPr>
        <p:spPr>
          <a:xfrm>
            <a:off x="693417" y="2239838"/>
            <a:ext cx="4220225" cy="608081"/>
          </a:xfrm>
          <a:prstGeom prst="roundRect">
            <a:avLst>
              <a:gd name="adj" fmla="val 50000"/>
            </a:avLst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75569"/>
              </a:solidFill>
              <a:latin typeface="Arimo"/>
              <a:ea typeface="Arimo"/>
              <a:cs typeface="Arimo"/>
              <a:sym typeface="Arimo"/>
            </a:endParaRPr>
          </a:p>
          <a:p>
            <a:r>
              <a:rPr lang="en-US" sz="145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2. Tại sao giá có biến động mạnh?</a:t>
            </a:r>
            <a:endParaRPr lang="en-US" sz="1450">
              <a:solidFill>
                <a:schemeClr val="bg1"/>
              </a:solidFill>
            </a:endParaRPr>
          </a:p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64CD0D1-D82F-C6F6-9744-F61D260E4178}"/>
              </a:ext>
            </a:extLst>
          </p:cNvPr>
          <p:cNvSpPr/>
          <p:nvPr/>
        </p:nvSpPr>
        <p:spPr>
          <a:xfrm>
            <a:off x="693417" y="3682172"/>
            <a:ext cx="4220225" cy="608081"/>
          </a:xfrm>
          <a:prstGeom prst="roundRect">
            <a:avLst>
              <a:gd name="adj" fmla="val 50000"/>
            </a:avLst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49964"/>
              </a:lnSpc>
            </a:pPr>
            <a:r>
              <a:rPr lang="en-US" sz="145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 4. Thời điểm giá thấp nhất?</a:t>
            </a:r>
            <a:endParaRPr lang="en-US" sz="145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16DA72-7974-69D9-46AB-4306411861F3}"/>
              </a:ext>
            </a:extLst>
          </p:cNvPr>
          <p:cNvSpPr/>
          <p:nvPr/>
        </p:nvSpPr>
        <p:spPr>
          <a:xfrm>
            <a:off x="6027420" y="3074091"/>
            <a:ext cx="4009209" cy="608081"/>
          </a:xfrm>
          <a:prstGeom prst="roundRect">
            <a:avLst>
              <a:gd name="adj" fmla="val 50000"/>
            </a:avLst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49964"/>
              </a:lnSpc>
            </a:pPr>
            <a:r>
              <a:rPr lang="en-US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vi-VN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7. Xu hướng tiếp theo là tăng hay giảm?</a:t>
            </a:r>
            <a:endParaRPr lang="vi-VN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11E065-DAE3-2B53-AC1B-A0B47B16CA2B}"/>
              </a:ext>
            </a:extLst>
          </p:cNvPr>
          <p:cNvSpPr/>
          <p:nvPr/>
        </p:nvSpPr>
        <p:spPr>
          <a:xfrm>
            <a:off x="6027420" y="2347112"/>
            <a:ext cx="4009209" cy="608081"/>
          </a:xfrm>
          <a:prstGeom prst="roundRect">
            <a:avLst>
              <a:gd name="adj" fmla="val 50000"/>
            </a:avLst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75569"/>
              </a:solidFill>
              <a:latin typeface="Arimo"/>
              <a:ea typeface="Arimo"/>
              <a:cs typeface="Arimo"/>
              <a:sym typeface="Arimo"/>
            </a:endParaRPr>
          </a:p>
          <a:p>
            <a:r>
              <a:rPr lang="en-US" sz="145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6. Mức chênh lệch Max - Min?</a:t>
            </a:r>
            <a:endParaRPr lang="en-US" sz="1450">
              <a:solidFill>
                <a:schemeClr val="bg1"/>
              </a:solidFill>
            </a:endParaRPr>
          </a:p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CB41097-C501-1A52-4BCD-F1B6BA3BDB5F}"/>
              </a:ext>
            </a:extLst>
          </p:cNvPr>
          <p:cNvSpPr/>
          <p:nvPr/>
        </p:nvSpPr>
        <p:spPr>
          <a:xfrm>
            <a:off x="6027420" y="1533802"/>
            <a:ext cx="4009209" cy="608081"/>
          </a:xfrm>
          <a:prstGeom prst="roundRect">
            <a:avLst>
              <a:gd name="adj" fmla="val 50000"/>
            </a:avLst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Arimo"/>
              <a:ea typeface="Arimo"/>
              <a:cs typeface="Arimo"/>
              <a:sym typeface="Arimo"/>
            </a:endParaRPr>
          </a:p>
          <a:p>
            <a:r>
              <a:rPr lang="en-US" sz="1450">
                <a:solidFill>
                  <a:schemeClr val="bg1"/>
                </a:solidFill>
                <a:latin typeface="Arimo"/>
                <a:ea typeface="Arimo"/>
                <a:cs typeface="Arimo"/>
                <a:sym typeface="Arimo"/>
              </a:rPr>
              <a:t>5. Năm có giá trung bình cao nhất?</a:t>
            </a:r>
            <a:endParaRPr lang="en-US" sz="1450">
              <a:solidFill>
                <a:schemeClr val="bg1"/>
              </a:solidFill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73983"/>
            <a:ext cx="5334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131172"/>
            <a:ext cx="5324475" cy="132951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/>
          <p:nvPr/>
        </p:nvSpPr>
        <p:spPr>
          <a:xfrm>
            <a:off x="571500" y="2514600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625476" y="2092821"/>
            <a:ext cx="173349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3A8A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Bước 1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1377850" y="248334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666750" y="2902446"/>
            <a:ext cx="16509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Đọc dữ liệu PySpark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2466926" y="2092821"/>
            <a:ext cx="173349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3A8A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Bước 2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3219301" y="248334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2508200" y="2902446"/>
            <a:ext cx="16509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Lọc mốc 2020-2025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4308377" y="2092821"/>
            <a:ext cx="173349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3A8A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Bước 3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5060751" y="248334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4349650" y="2902446"/>
            <a:ext cx="16509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Chọn</a:t>
            </a:r>
            <a:r>
              <a:rPr lang="en-US" sz="1125" b="0" i="0" u="none" strike="noStrike" cap="none" dirty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125" b="0" i="0" u="none" strike="noStrike" cap="none" dirty="0" err="1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xăng</a:t>
            </a:r>
            <a:r>
              <a:rPr lang="en-US" sz="1125" b="0" i="0" u="none" strike="noStrike" cap="none" dirty="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 RON95</a:t>
            </a:r>
            <a:endParaRPr dirty="0"/>
          </a:p>
        </p:txBody>
      </p:sp>
      <p:sp>
        <p:nvSpPr>
          <p:cNvPr id="184" name="Google Shape;184;p17"/>
          <p:cNvSpPr txBox="1"/>
          <p:nvPr/>
        </p:nvSpPr>
        <p:spPr>
          <a:xfrm>
            <a:off x="6149827" y="2092821"/>
            <a:ext cx="173349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3A8A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Bước 4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6902201" y="248334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6191101" y="2902446"/>
            <a:ext cx="16509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Xử lý dữ liệu thiếu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7991277" y="2092821"/>
            <a:ext cx="173349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3A8A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Bước 5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8743652" y="248334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8032551" y="2902446"/>
            <a:ext cx="16509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Thống kê NumPy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9832728" y="2092821"/>
            <a:ext cx="173349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3A8A"/>
                </a:solidFill>
                <a:latin typeface="Arimo SemiBold"/>
                <a:ea typeface="Arimo SemiBold"/>
                <a:cs typeface="Arimo SemiBold"/>
                <a:sym typeface="Arimo SemiBold"/>
              </a:rPr>
              <a:t>Bước 6</a:t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10585102" y="248334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9874001" y="2902446"/>
            <a:ext cx="16509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Vẽ đồ thị phân tích</a:t>
            </a:r>
            <a:endParaRPr/>
          </a:p>
        </p:txBody>
      </p:sp>
      <p:pic>
        <p:nvPicPr>
          <p:cNvPr id="193" name="Google Shape;19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783508"/>
            <a:ext cx="531495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7"/>
          <p:cNvSpPr txBox="1"/>
          <p:nvPr/>
        </p:nvSpPr>
        <p:spPr>
          <a:xfrm>
            <a:off x="6577012" y="4280967"/>
            <a:ext cx="474345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Sử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dụng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1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Python Notebook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để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thực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hiện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toàn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bộ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quy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trình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từ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ETL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đến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Visualization,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đảm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bảo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tính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nhất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quán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của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luồng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dữ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liệu</a:t>
            </a:r>
            <a:r>
              <a:rPr lang="en-US" b="0" i="0" u="none" strike="noStrike" cap="none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dirty="0"/>
          </a:p>
        </p:txBody>
      </p:sp>
      <p:sp>
        <p:nvSpPr>
          <p:cNvPr id="195" name="Google Shape;195;p1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Các bước thực hiện chính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31218"/>
            <a:ext cx="5334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679156"/>
            <a:ext cx="5334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6286500" y="2502693"/>
            <a:ext cx="56007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Nhận xét chính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619875" y="3140868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Giá biến động cực mạnh trong năm 2023.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619875" y="3555206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Đạt đỉnh cao nhất vào </a:t>
            </a:r>
            <a:r>
              <a:rPr lang="en-US" sz="1425" b="1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tháng 09/2023</a:t>
            </a:r>
            <a:r>
              <a:rPr lang="en-US" sz="1425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(~26,270đ).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6619875" y="3969543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Xu hướng từ cuối 2024 có sự điều chỉnh giảm rõ rệt.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6524625" y="4869656"/>
            <a:ext cx="4905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40AF"/>
                </a:solidFill>
                <a:latin typeface="Arimo Medium"/>
                <a:ea typeface="Arimo Medium"/>
                <a:cs typeface="Arimo Medium"/>
                <a:sym typeface="Arimo Medium"/>
              </a:rPr>
              <a:t>Lý do: Phụ thuộc vào giá dầu thế giới và cơ chế điều hành giá xăng dầu trong nước.</a:t>
            </a:r>
            <a:endParaRPr/>
          </a:p>
        </p:txBody>
      </p:sp>
      <p:pic>
        <p:nvPicPr>
          <p:cNvPr id="210" name="Google Shape;21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17420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58854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002881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Biến động giá xăng RON95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E56F0-E3CE-BC20-3DE9-CC5F315A6E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1" y="1262270"/>
            <a:ext cx="6044234" cy="55062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31168"/>
            <a:ext cx="15049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350668"/>
            <a:ext cx="11049000" cy="652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/>
        </p:nvSpPr>
        <p:spPr>
          <a:xfrm>
            <a:off x="809625" y="5541168"/>
            <a:ext cx="10620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40AF"/>
                </a:solidFill>
                <a:latin typeface="Arimo Medium"/>
                <a:ea typeface="Arimo Medium"/>
                <a:cs typeface="Arimo Medium"/>
                <a:sym typeface="Arimo Medium"/>
              </a:rPr>
              <a:t>Mức chênh lệch lớn nhất giữa đỉnh và đáy là </a:t>
            </a:r>
            <a:r>
              <a:rPr lang="en-US" sz="1425" b="1" i="0" u="none" strike="noStrike" cap="none">
                <a:solidFill>
                  <a:srgbClr val="1E40AF"/>
                </a:solidFill>
                <a:latin typeface="Arimo"/>
                <a:ea typeface="Arimo"/>
                <a:cs typeface="Arimo"/>
                <a:sym typeface="Arimo"/>
              </a:rPr>
              <a:t>6,860 VNĐ/lít</a:t>
            </a:r>
            <a:r>
              <a:rPr lang="en-US" sz="1425" b="0" i="0" u="none" strike="noStrike" cap="none">
                <a:solidFill>
                  <a:srgbClr val="1E40AF"/>
                </a:solidFill>
                <a:latin typeface="Arimo Medium"/>
                <a:ea typeface="Arimo Medium"/>
                <a:cs typeface="Arimo Medium"/>
                <a:sym typeface="Arimo Medium"/>
              </a:rPr>
              <a:t>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571500" y="2293143"/>
            <a:ext cx="56007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C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TOP 3 Giá Cao Nhất</a:t>
            </a:r>
            <a:endParaRPr/>
          </a:p>
        </p:txBody>
      </p:sp>
      <p:graphicFrame>
        <p:nvGraphicFramePr>
          <p:cNvPr id="223" name="Google Shape;223;p19"/>
          <p:cNvGraphicFramePr/>
          <p:nvPr/>
        </p:nvGraphicFramePr>
        <p:xfrm>
          <a:off x="571500" y="2778918"/>
          <a:ext cx="5324475" cy="2286000"/>
        </p:xfrm>
        <a:graphic>
          <a:graphicData uri="http://schemas.openxmlformats.org/drawingml/2006/table">
            <a:tbl>
              <a:tblPr firstRow="1" bandRow="1">
                <a:noFill/>
                <a:tableStyleId>{159EE7A3-CF88-420C-AAC5-505AE636D135}</a:tableStyleId>
              </a:tblPr>
              <a:tblGrid>
                <a:gridCol w="277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1E3A8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Ngày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1E3A8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Giá (VND)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2023-09-21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26,270.0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2024-04-17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25,760.0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2024-05-02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25,480.0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4" name="Google Shape;224;p19"/>
          <p:cNvSpPr txBox="1"/>
          <p:nvPr/>
        </p:nvSpPr>
        <p:spPr>
          <a:xfrm>
            <a:off x="6286500" y="2293143"/>
            <a:ext cx="56007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6A34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TOP 3 Giá Thấp Nhất</a:t>
            </a:r>
            <a:endParaRPr/>
          </a:p>
        </p:txBody>
      </p:sp>
      <p:graphicFrame>
        <p:nvGraphicFramePr>
          <p:cNvPr id="225" name="Google Shape;225;p19"/>
          <p:cNvGraphicFramePr/>
          <p:nvPr/>
        </p:nvGraphicFramePr>
        <p:xfrm>
          <a:off x="6286500" y="2778918"/>
          <a:ext cx="5324475" cy="2286000"/>
        </p:xfrm>
        <a:graphic>
          <a:graphicData uri="http://schemas.openxmlformats.org/drawingml/2006/table">
            <a:tbl>
              <a:tblPr firstRow="1" bandRow="1">
                <a:noFill/>
                <a:tableStyleId>{159EE7A3-CF88-420C-AAC5-505AE636D135}</a:tableStyleId>
              </a:tblPr>
              <a:tblGrid>
                <a:gridCol w="277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1E3A8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Ngày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1E3A8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Giá (VND)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2024-04-17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19,410.0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2025-12-25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19,540.0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2025-04-10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19,580.0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6" name="Google Shape;226;p19"/>
          <p:cNvSpPr/>
          <p:nvPr/>
        </p:nvSpPr>
        <p:spPr>
          <a:xfrm>
            <a:off x="576262" y="3336131"/>
            <a:ext cx="277936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3355627" y="3336131"/>
            <a:ext cx="2545109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6291262" y="3336131"/>
            <a:ext cx="277936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9070627" y="3336131"/>
            <a:ext cx="2545109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576262" y="3917156"/>
            <a:ext cx="27793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3355627" y="3917156"/>
            <a:ext cx="25451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576262" y="4483893"/>
            <a:ext cx="27793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3355627" y="4483893"/>
            <a:ext cx="25451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576262" y="5050631"/>
            <a:ext cx="27793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3355627" y="5050631"/>
            <a:ext cx="25451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6291262" y="3917156"/>
            <a:ext cx="27793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9070627" y="3917156"/>
            <a:ext cx="25451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6291262" y="4483893"/>
            <a:ext cx="27793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9070627" y="4483893"/>
            <a:ext cx="25451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6291262" y="5050631"/>
            <a:ext cx="27793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9070627" y="5050631"/>
            <a:ext cx="25451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6. TOP 3 giá cao nhất và thấp nhất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28887"/>
            <a:ext cx="5334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/>
        </p:nvSpPr>
        <p:spPr>
          <a:xfrm>
            <a:off x="6286500" y="2900362"/>
            <a:ext cx="56007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Phân tích trung bình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619875" y="3538537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Năm 2023</a:t>
            </a:r>
            <a:r>
              <a:rPr lang="en-US" sz="1425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là năm có giá xăng trung bình cao nhất trong giai đoạn.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6619875" y="4224337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Giá trung bình toàn giai đoạn đạt mức </a:t>
            </a:r>
            <a:r>
              <a:rPr lang="en-US" sz="1425" b="1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22,297.19 VNĐ/lít</a:t>
            </a:r>
            <a:r>
              <a:rPr lang="en-US" sz="1425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619875" y="4638675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Năm 2025 ghi nhận mức giảm trung bình sâu nhất.</a:t>
            </a:r>
            <a:endParaRPr/>
          </a:p>
        </p:txBody>
      </p:sp>
      <p:pic>
        <p:nvPicPr>
          <p:cNvPr id="255" name="Google Shape;25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5718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2576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6720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0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7. Giá xăng trung bình theo năm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1DE6E0-70FA-F42D-63FE-69C59BAF20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85" y="1278433"/>
            <a:ext cx="5906115" cy="50631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38362"/>
            <a:ext cx="5334000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38362"/>
            <a:ext cx="5334000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1"/>
          <p:cNvSpPr txBox="1"/>
          <p:nvPr/>
        </p:nvSpPr>
        <p:spPr>
          <a:xfrm>
            <a:off x="904875" y="2433637"/>
            <a:ext cx="494061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C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Vấn đề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6619875" y="2433637"/>
            <a:ext cx="494061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Đề xuất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1238250" y="3081337"/>
            <a:ext cx="43719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Giá xăng biến động cực kỳ mạnh và khó dự báo chính xác.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1238250" y="3767137"/>
            <a:ext cx="43719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Sự phụ thuộc lớn vào diễn biến địa chính trị và giá dầu thô thế giới.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1238250" y="4452937"/>
            <a:ext cx="43719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Gây áp lực lớn lên chi phí vận tải và giá thành hàng hóa đời sống.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6953250" y="3081337"/>
            <a:ext cx="43719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Người dân cần chủ động theo dõi xu hướng giá để tối ưu hóa chi tiêu.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6953250" y="3767137"/>
            <a:ext cx="43719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Ưu tiên các giải pháp tiết kiệm nhiên liệu trong vận hành sản xuất.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6953250" y="4452937"/>
            <a:ext cx="43719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Nâng cao năng lực điều hành và ổn định giá xăng dầu trong nước.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8. Đề xuất và vấn đề rút ra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1617575" y="1415564"/>
            <a:ext cx="77628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Giá xăng có biên độ biến động rộng trong giai đoạn 2020-2025.</a:t>
            </a:r>
            <a:endParaRPr sz="1800"/>
          </a:p>
        </p:txBody>
      </p:sp>
      <p:sp>
        <p:nvSpPr>
          <p:cNvPr id="282" name="Google Shape;282;p22"/>
          <p:cNvSpPr txBox="1"/>
          <p:nvPr/>
        </p:nvSpPr>
        <p:spPr>
          <a:xfrm>
            <a:off x="1617575" y="1837624"/>
            <a:ext cx="77628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Giai đoạn 2023–2024 đánh dấu sự tăng trưởng nóng về giá.</a:t>
            </a:r>
            <a:endParaRPr sz="1800"/>
          </a:p>
        </p:txBody>
      </p:sp>
      <p:sp>
        <p:nvSpPr>
          <p:cNvPr id="283" name="Google Shape;283;p22"/>
          <p:cNvSpPr txBox="1"/>
          <p:nvPr/>
        </p:nvSpPr>
        <p:spPr>
          <a:xfrm>
            <a:off x="1617575" y="2275000"/>
            <a:ext cx="77628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Xu hướng năm 2025 đang cho thấy sự điều chỉnh giảm tích cực.</a:t>
            </a:r>
            <a:endParaRPr sz="1800"/>
          </a:p>
        </p:txBody>
      </p:sp>
      <p:sp>
        <p:nvSpPr>
          <p:cNvPr id="284" name="Google Shape;284;p22"/>
          <p:cNvSpPr txBox="1"/>
          <p:nvPr/>
        </p:nvSpPr>
        <p:spPr>
          <a:xfrm>
            <a:off x="1617574" y="2712376"/>
            <a:ext cx="77628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Ứng dụng thành công các công cụ Khoa học dữ liệu (PySpark, NumPy, Matplotlib) để rút ra các nhận định giá trị.</a:t>
            </a:r>
            <a:endParaRPr sz="1800"/>
          </a:p>
        </p:txBody>
      </p:sp>
      <p:pic>
        <p:nvPicPr>
          <p:cNvPr id="285" name="Google Shape;28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4587" y="147387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93371" y="194536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93371" y="23827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6672" y="2880799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2"/>
          <p:cNvSpPr txBox="1"/>
          <p:nvPr/>
        </p:nvSpPr>
        <p:spPr>
          <a:xfrm>
            <a:off x="571500" y="571500"/>
            <a:ext cx="116014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9. Kết luận</a:t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C18599-6A95-8252-9940-7DB1D2C66716}"/>
              </a:ext>
            </a:extLst>
          </p:cNvPr>
          <p:cNvSpPr txBox="1"/>
          <p:nvPr/>
        </p:nvSpPr>
        <p:spPr>
          <a:xfrm>
            <a:off x="2817091" y="2484582"/>
            <a:ext cx="6326909" cy="1379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6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EM XIN CẢM ƠN THẦY VÀ CÁC BẠN ĐÃ LẮNG NGHE</a:t>
            </a:r>
            <a:endParaRPr lang="vi-VN"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744</Words>
  <Application>Microsoft Office PowerPoint</Application>
  <PresentationFormat>Widescreen</PresentationFormat>
  <Paragraphs>105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Poppins SemiBold</vt:lpstr>
      <vt:lpstr>DM Sans</vt:lpstr>
      <vt:lpstr>Aptos</vt:lpstr>
      <vt:lpstr>Merriweather</vt:lpstr>
      <vt:lpstr>Arial</vt:lpstr>
      <vt:lpstr>Arimo</vt:lpstr>
      <vt:lpstr>Calibri</vt:lpstr>
      <vt:lpstr>Poppins</vt:lpstr>
      <vt:lpstr>Arimo SemiBold</vt:lpstr>
      <vt:lpstr>Arimo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Linhmoon</dc:creator>
  <cp:lastModifiedBy>Admin</cp:lastModifiedBy>
  <cp:revision>3</cp:revision>
  <dcterms:modified xsi:type="dcterms:W3CDTF">2026-05-21T15:02:18Z</dcterms:modified>
</cp:coreProperties>
</file>